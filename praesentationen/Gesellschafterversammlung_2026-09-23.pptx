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e1699406-e4d7-222f-cc5a-77e509046243}">
          <p14:sldIdLst>
            <p14:sldId id="256"/>
            <p14:sldId id="257"/>
          </p14:sldIdLst>
        </p14:section>
        <p14:section name="TOP 1 · Kurze Zusammenfassung und IST-Zustand" id="{fc5062d2-5e5c-a39d-14b3-9f7dcd028bd2}">
          <p14:sldIdLst>
            <p14:sldId id="258"/>
          </p14:sldIdLst>
        </p14:section>
        <p14:section name="TOP 2 · Überblick der letzten 4 Monate" id="{4d5fe321-9d25-bc1b-f2d3-3120543c2060}">
          <p14:sldIdLst>
            <p14:sldId id="259"/>
            <p14:sldId id="260"/>
          </p14:sldIdLst>
        </p14:section>
        <p14:section name="TOP 3 · 80er im Detail und Zukunft Kunde MK?" id="{d540d21e-3d97-80b0-9138-52ad587fc4fb}">
          <p14:sldIdLst>
            <p14:sldId id="261"/>
            <p14:sldId id="262"/>
          </p14:sldIdLst>
        </p14:section>
        <p14:section name="TOP 4 · Messeauftritt" id="{29066fe7-fb04-64ef-f1de-9bc3f67d07ef}">
          <p14:sldIdLst>
            <p14:sldId id="263"/>
          </p14:sldIdLst>
        </p14:section>
        <p14:section name="TOP 5 · Forecast und Ausblick" id="{ecf74539-b534-2022-4b42-dcb8750b66ca}">
          <p14:sldIdLst>
            <p14:sldId id="264"/>
          </p14:sldIdLst>
        </p14:section>
        <p14:section name="TOP 6 · Sonstiges" id="{5d4495d8-51fb-0fc5-68a3-25ce0ae95ba4}">
          <p14:sldIdLst>
            <p14:sldId id="265"/>
          </p14:sldIdLst>
        </p14:section>
        <p14:section name="Abschluss" id="{7d449268-ba34-b3be-5a12-3101a18a6bcc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PARTEI UND PROJEKT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Works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412556</c:v>
                </c:pt>
                <c:pt idx="1">
                  <c:v>144210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CGS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235000</c:v>
                </c:pt>
                <c:pt idx="1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TCLG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245000</c:v>
                </c:pt>
                <c:pt idx="1">
                  <c:v>55000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6A6A6A"/>
                  </a:solidFill>
                  <a:latin typeface="Helvetic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ZAHLUNGSSTAND (BRUTTO)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Rechnungen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3D3D"/>
              </a:solidFill>
              <a:effectLst/>
            </c:spPr>
          </c:dPt>
          <c:dPt>
            <c:idx val="1"/>
            <c:bubble3D val="0"/>
            <c:spPr>
              <a:solidFill>
                <a:srgbClr val="A888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Bezahlt</c:v>
                </c:pt>
                <c:pt idx="1">
                  <c:v>Offen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788473</c:v>
                </c:pt>
                <c:pt idx="1">
                  <c:v>383349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MONAT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Bestätigt / fest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Sep 26</c:v>
                  </c:pt>
                  <c:pt idx="1">
                    <c:v>Okt 26</c:v>
                  </c:pt>
                  <c:pt idx="2">
                    <c:v>Nov 26</c:v>
                  </c:pt>
                  <c:pt idx="3">
                    <c:v>Dez 26</c:v>
                  </c:pt>
                  <c:pt idx="4">
                    <c:v>Jan 27</c:v>
                  </c:pt>
                  <c:pt idx="5">
                    <c:v>Feb 27</c:v>
                  </c:pt>
                  <c:pt idx="6">
                    <c:v>Mär 27</c:v>
                  </c:pt>
                  <c:pt idx="7">
                    <c:v>Apr 27</c:v>
                  </c:pt>
                  <c:pt idx="8">
                    <c:v>Mai 27</c:v>
                  </c:pt>
                  <c:pt idx="9">
                    <c:v>Jun 27</c:v>
                  </c:pt>
                  <c:pt idx="10">
                    <c:v>Jul 27</c:v>
                  </c:pt>
                  <c:pt idx="11">
                    <c:v>Aug 27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254446</c:v>
                </c:pt>
                <c:pt idx="1">
                  <c:v>0</c:v>
                </c:pt>
                <c:pt idx="2">
                  <c:v>46520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Offen gewichtet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Sep 26</c:v>
                  </c:pt>
                  <c:pt idx="1">
                    <c:v>Okt 26</c:v>
                  </c:pt>
                  <c:pt idx="2">
                    <c:v>Nov 26</c:v>
                  </c:pt>
                  <c:pt idx="3">
                    <c:v>Dez 26</c:v>
                  </c:pt>
                  <c:pt idx="4">
                    <c:v>Jan 27</c:v>
                  </c:pt>
                  <c:pt idx="5">
                    <c:v>Feb 27</c:v>
                  </c:pt>
                  <c:pt idx="6">
                    <c:v>Mär 27</c:v>
                  </c:pt>
                  <c:pt idx="7">
                    <c:v>Apr 27</c:v>
                  </c:pt>
                  <c:pt idx="8">
                    <c:v>Mai 27</c:v>
                  </c:pt>
                  <c:pt idx="9">
                    <c:v>Jun 27</c:v>
                  </c:pt>
                  <c:pt idx="10">
                    <c:v>Jul 27</c:v>
                  </c:pt>
                  <c:pt idx="11">
                    <c:v>Aug 27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130449</c:v>
                </c:pt>
                <c:pt idx="2">
                  <c:v>141174</c:v>
                </c:pt>
                <c:pt idx="3">
                  <c:v>57217</c:v>
                </c:pt>
                <c:pt idx="4">
                  <c:v>4625</c:v>
                </c:pt>
                <c:pt idx="5">
                  <c:v>2165</c:v>
                </c:pt>
                <c:pt idx="6">
                  <c:v>11910</c:v>
                </c:pt>
                <c:pt idx="7">
                  <c:v>98147</c:v>
                </c:pt>
                <c:pt idx="8">
                  <c:v>0</c:v>
                </c:pt>
                <c:pt idx="9">
                  <c:v>318263</c:v>
                </c:pt>
                <c:pt idx="10">
                  <c:v>193185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Abgerechnet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Sep 26</c:v>
                  </c:pt>
                  <c:pt idx="1">
                    <c:v>Okt 26</c:v>
                  </c:pt>
                  <c:pt idx="2">
                    <c:v>Nov 26</c:v>
                  </c:pt>
                  <c:pt idx="3">
                    <c:v>Dez 26</c:v>
                  </c:pt>
                  <c:pt idx="4">
                    <c:v>Jan 27</c:v>
                  </c:pt>
                  <c:pt idx="5">
                    <c:v>Feb 27</c:v>
                  </c:pt>
                  <c:pt idx="6">
                    <c:v>Mär 27</c:v>
                  </c:pt>
                  <c:pt idx="7">
                    <c:v>Apr 27</c:v>
                  </c:pt>
                  <c:pt idx="8">
                    <c:v>Mai 27</c:v>
                  </c:pt>
                  <c:pt idx="9">
                    <c:v>Jun 27</c:v>
                  </c:pt>
                  <c:pt idx="10">
                    <c:v>Jul 27</c:v>
                  </c:pt>
                  <c:pt idx="11">
                    <c:v>Aug 27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45738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Helvetica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Kurze Zusammenfassung und IST-Zustand. Kennzahlen = Zeile „Summe Bestätigt“ der Auswertung in der Nova Works App (alle bestätigten Projekte, netto).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Überblick der letzten 4 Monate: Projekte je Monat (Mai bis September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Vorstellung der Nova Works App: Angebots-Tool (angebote.nova-works.de) und Crewplanung, beide mit Supabase-Cloud, Mehrbenutzer und Zugriff für Claude über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Deal-Auswertung aus der Nova Works App (Auswertung → Deal-Auswertung), Stand 18.09.2026. Nova-Works-Umsatz = bestätigte Projektsumme, Partnerumsätze CGS/TCLG manuell erfasst, Kosten (NW) aus der Kostenkontrolle, Auszahlungen an Partner aus dem Kostensplit.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Rechnungsstand aus der Deal-Auswertung (Stand 18.09.2026). Diskussionspunkte zur Zukunft mit dem 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Messeauftritt. Inhalte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– Forecast und Ausblick. Zahlen aus Nova Works App → Forecast (Standard „nächste 12 Monate“, dazu Kalenderjahr 2026 und 2027), berechnet aus der Datensicherung vom 18.09.2026.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 – Sonstiges, Beschlüsse und nächste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Sechs Tagesordnungspunkte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258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95544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672584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47888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522208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345168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22208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1645920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98264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72584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72584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495544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72584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247888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522208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22208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345168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522208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Gesamt Nova Works · Auswertung der bestätigten Projekte · Stand 18.09.2026 · alle Beträge netto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BESTÄTIGT · 19 PROJEKTE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1.704.057 €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aus den Angeboten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441448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670048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1.814.727 €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670048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aktuelle Projektsumme bestätigter Projekte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334256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62856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ERLÖSE (IST)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1.572.556 €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62856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aller Ausgangsrechnungen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27064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55664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KOSTEN (IST)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1.530.115 €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zugeordnete Eingangsrechnungen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77240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SOLL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-123.644 €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-7 % · Budget − geplante Kosten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441448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2670048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IST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2670048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281.412 €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2670048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16 % · Budget − Kosten Ist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34256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4562856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EINGANGSRECHN.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456285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1.536.144 €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4562856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zugewiesene Eingangsrechnungen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27064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55664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BEIM KUNDEN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455664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242.170 €</a:t>
            </a:r>
            <a:endParaRPr lang="en-US" sz="210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− Erlöse (Ist)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8229600" y="1783080"/>
            <a:ext cx="3410712" cy="420624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5039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IST-ZUSTAND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8503920" y="22860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und Auslastung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Liquidität und offene Forderungen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Kunden und Partner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Werkzeuge: Nova Works App im Einsatz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Punkte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5039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Stichpunkte werden vor der Versammlung ergänzt.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Mai bis September 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11094415" cy="0"/>
          </a:xfrm>
          <a:prstGeom prst="line">
            <a:avLst/>
          </a:prstGeom>
          <a:noFill/>
          <a:ln w="19050">
            <a:solidFill>
              <a:srgbClr val="C7AB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02575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Projekte in fünf Monaten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75786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468880"/>
            <a:ext cx="2036003" cy="1984248"/>
          </a:xfrm>
          <a:prstGeom prst="roundRect">
            <a:avLst>
              <a:gd name="adj" fmla="val 553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4672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SWR3 ESC Party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Ikarus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26-0029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LED Trailer Krones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794669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67523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 2026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58963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023555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023555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i&amp;u Studios · LED Säule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023555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023555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EB – No Limits FFM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023555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3023555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Inselfieber Oberhausen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23555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023555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CSD München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013552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986406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Juli 2026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77846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5242438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242438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242438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26-0012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5242438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Summerjam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242438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26-0023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242438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– Andy Borg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242438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242438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Festspielhaus Bayreuth · Alle Farben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232435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05289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7296729" y="2468880"/>
            <a:ext cx="2036003" cy="813816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461321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461321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Shutdown Festival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0451318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24172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9515612" y="2468880"/>
            <a:ext cx="2036003" cy="3739896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9680204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26-0005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680204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Sven Väth Bayreuth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680204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26-0032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680204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Glücksgefühle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9680204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26-0037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9680204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Bull Energy Station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680204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26-0031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9680204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NPF 2026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9680204" y="497433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26-0043</a:t>
            </a:r>
            <a:endParaRPr lang="en-US" sz="900" dirty="0"/>
          </a:p>
        </p:txBody>
      </p:sp>
      <p:sp>
        <p:nvSpPr>
          <p:cNvPr id="60" name="Text 57"/>
          <p:cNvSpPr txBox="1"/>
          <p:nvPr/>
        </p:nvSpPr>
        <p:spPr>
          <a:xfrm>
            <a:off x="9680204" y="51937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Laser Mainz–Berlin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9680204" y="555955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26-0047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9680204" y="577900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 Veranstaltungsleiter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Die Nova Works App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Eine Web-App für Angebot, Crew, Disposition, Auswertung und Forecast · angebote.nova-works.de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&amp; Projekte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mit Angeboten, Jobs und Material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Angebots-PDF und Zusätze im Nova-Design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Crew-Kalkulation und Transport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Kalkulations-Assistent mit Erfahrungswerten und KI-Einschätzung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Lieferanten-Anfragen als PDF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8264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72584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258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58384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&amp; Disposition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72584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Crewplanung nach Gewerken und Phasen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Sheet, Schichtplan, Bauzeitenplan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Hotelplanung und Funkgeräte-Ausgabe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per E-Mail anfragen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Freelancer-Datenbank mit Adressen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247888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522208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220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08008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&amp; Steuerung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22208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Projektauswertung Soll / Ist je Kategorie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mit Partnern und Kostensplit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Rechnungseingang mit Zuordnung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Forecast: Umsatz, Marge, Fixkosten je Monat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Overhead, Messen und Lexware-Anbindung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ProEvent 2026 · Stand 18.09.2026 · alle Beträge netto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34440"/>
                <a:gridCol w="1097280"/>
                <a:gridCol w="1097280"/>
                <a:gridCol w="1371600"/>
                <a:gridCol w="731520"/>
                <a:gridCol w="1234440"/>
                <a:gridCol w="1280160"/>
                <a:gridCol w="987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Projekt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Nova Works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CGS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TCLG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 gesamt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Anteil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Kosten (NW)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Deal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NW-Sicht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26-0007 · 80er Live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412.556 €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892.556 €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77 %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458.040 €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434.516 €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-45.484 €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26-0008 · Oberhausen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157.114 €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107.096 €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-12.904 €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Deal gesamt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1.156.766 €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615.154 €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541.612 €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-58.388 €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Umsatz-Anteil je Partei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48 %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548640" y="379476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7"/>
          <p:cNvSpPr/>
          <p:nvPr/>
        </p:nvSpPr>
        <p:spPr>
          <a:xfrm>
            <a:off x="6583680" y="3794760"/>
            <a:ext cx="5056632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6812280" y="3931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KOSTENSPLIT · NETTO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42519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Einnahmen alle Parteien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9509760" y="42519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1.156.766 €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12280" y="45628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− Kosten gesamt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9509760" y="4562856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615.154 €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812280" y="4855464"/>
            <a:ext cx="4617720" cy="0"/>
          </a:xfrm>
          <a:prstGeom prst="line">
            <a:avLst/>
          </a:prstGeom>
          <a:noFill/>
          <a:ln w="9525">
            <a:solidFill>
              <a:srgbClr val="E4E1D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12280" y="48737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= Ergebnis vor Split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9509760" y="487375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541.612 €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812280" y="51846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− Auszahlungen Partner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509760" y="5184648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350.000 €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12280" y="5477256"/>
            <a:ext cx="4617720" cy="0"/>
          </a:xfrm>
          <a:prstGeom prst="line">
            <a:avLst/>
          </a:prstGeom>
          <a:noFill/>
          <a:ln w="9525">
            <a:solidFill>
              <a:srgbClr val="E4E1D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12280" y="54955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= verbleibt Nova Works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9509760" y="54955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191.612 €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6812280" y="5815584"/>
            <a:ext cx="4617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Nova-Works-Sicht: Umsatz 556.766 € − Kosten 615.154 € = -58.388 € (-10 %)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Rechnungsstand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Rechnungen an den Kunden über alle Parteien · Stand 18.09.2026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1947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RECHNUNG GESTELLT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1.047.766 €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27 Rechnungen · netto · 1.246.792 € brutto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33649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788.473 €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Rechnungen · brutto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7240" y="47823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029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383.349 €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486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 Rechnungen · brutto</a:t>
            </a:r>
            <a:endParaRPr lang="en-US" sz="9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3749040" y="1783080"/>
          <a:ext cx="3291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9"/>
          <p:cNvSpPr/>
          <p:nvPr/>
        </p:nvSpPr>
        <p:spPr>
          <a:xfrm>
            <a:off x="7315200" y="1783080"/>
            <a:ext cx="4325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589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ZUKUNFT KUNDE MK?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Fragen zur Diskussion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589520" y="27432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Erfahrungen aus 80er Live und Oberhausen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Konditionen und Zahlungsziele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Rollenverteilung mit CGS und TCLG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Umfang 2027: Tour, Einzelshows, Festivals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Entscheidung: weiter, anpassen oder beenden?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Planung, Ziele und Budget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 und Termin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2296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Ziele und Zielgruppen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49224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und Kostenplan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96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2296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Umsetzung und Verantwortliche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649224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· nächste 12 Monate (Sep 2026 – Aug 2027) · 19 Projekte, 4 Planeinträge · alle Beträge netto · Stand 18.09.2026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/ FEST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300.966 €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Projektsumme bestätigter Projekte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41448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70048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(GEWICHTET)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670048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957.135 €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 1.707.495 € Angeboten „auf Anfrage“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34256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62856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UMSATZ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1.258.101 €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+ Offen gewichtet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27064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5566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ABGERECHNET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45.738 €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Ausgangsrechnungen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119872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348472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(FORECAST)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348472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279.150 €</a:t>
            </a:r>
            <a:endParaRPr lang="en-US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8348472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22 % vom Forecast-Umsatz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1001268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24128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NACH FIXKOSTEN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24128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181.036 €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Fixkosten 98.114 €</a:t>
            </a:r>
            <a:endParaRPr lang="en-US" sz="95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548640" y="3200400"/>
          <a:ext cx="73152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Shape 30"/>
          <p:cNvSpPr/>
          <p:nvPr/>
        </p:nvSpPr>
        <p:spPr>
          <a:xfrm>
            <a:off x="8092440" y="3200400"/>
            <a:ext cx="3547872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8275320" y="3310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ÜBERSICHT NACH ZEITRAUM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61188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Zeitraum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Forecast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Ergebnis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Kalenderjahr 2026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1.754.272 €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-26.778 €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-115.045 €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Kalenderjahr 2027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628.295 €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215.736 €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116.122 €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Nächste 12 Mon.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1.258.101 €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279.150 €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181.036 €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2"/>
          <p:cNvSpPr txBox="1"/>
          <p:nvPr/>
        </p:nvSpPr>
        <p:spPr>
          <a:xfrm>
            <a:off x="8275320" y="5440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Kalenderjahr 2026: 1.572.556 € abgerechnet · Kosten geplant 1.781.049 € · Fixkosten 88.267 €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Verschiedenes, Beschlüsse und nächste Schritte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33172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2296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09360" y="1783080"/>
            <a:ext cx="533095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BESCHLÜSSE UND NÄCHSTE SCHRITTE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331720"/>
          <a:ext cx="4782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47672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Thema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Beschluss / Aufgabe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Wer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2026-09-18T07:57:41Z</dcterms:created>
  <dcterms:modified xsi:type="dcterms:W3CDTF">2026-09-18T07:57:41Z</dcterms:modified>
</cp:coreProperties>
</file>