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5f84d1a2-4f9d-f061-69f9-747faf0adc8b}">
          <p14:sldIdLst>
            <p14:sldId id="256"/>
            <p14:sldId id="257"/>
          </p14:sldIdLst>
        </p14:section>
        <p14:section name="TOP 1 · Kurze Zusammenfassung und IST-Zustand" id="{f1329768-703b-49cf-5b56-89a186c42aa5}">
          <p14:sldIdLst>
            <p14:sldId id="258"/>
          </p14:sldIdLst>
        </p14:section>
        <p14:section name="TOP 2 · Überblick der letzten 4 Monate" id="{729c52e3-5e36-cb13-5520-08369502ac3d}">
          <p14:sldIdLst>
            <p14:sldId id="259"/>
            <p14:sldId id="260"/>
          </p14:sldIdLst>
        </p14:section>
        <p14:section name="TOP 3 · 80er im Detail und Zukunft Kunde MK?" id="{5374b64f-47de-6228-989f-73d0fcbf7d37}">
          <p14:sldIdLst>
            <p14:sldId id="261"/>
            <p14:sldId id="262"/>
          </p14:sldIdLst>
        </p14:section>
        <p14:section name="TOP 4 · Messeauftritt" id="{67e4496d-3023-ec42-8b40-3814c260d0cc}">
          <p14:sldIdLst>
            <p14:sldId id="263"/>
          </p14:sldIdLst>
        </p14:section>
        <p14:section name="TOP 5 · Forecast und Ausblick" id="{0adf7285-98d7-c508-c77e-94e679071790}">
          <p14:sldIdLst>
            <p14:sldId id="264"/>
          </p14:sldIdLst>
        </p14:section>
        <p14:section name="TOP 6 · Sonstiges" id="{c5eb0d11-d874-b33e-4076-7786cb6c7bca}">
          <p14:sldIdLst>
            <p14:sldId id="265"/>
          </p14:sldIdLst>
        </p14:section>
        <p14:section name="Abschluss" id="{ac692809-6edb-fcfe-706f-97f46a35203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A6A6A"/>
                </a:solidFill>
                <a:latin typeface="Helvetica"/>
              </a:defRPr>
            </a:pPr>
            <a:r>
              <a:rPr sz="1000" b="0" i="0" u="none" strike="noStrike">
                <a:solidFill>
                  <a:srgbClr val="6A6A6A"/>
                </a:solidFill>
                <a:latin typeface="Helvetica"/>
              </a:rPr>
              <a:t>UMSATZ JE PARTEI UND PROJEKT (€, NETTO)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Nova Works</c:v>
                </c:pt>
              </c:strCache>
            </c:strRef>
          </c:tx>
          <c:spPr>
            <a:solidFill>
              <a:srgbClr val="3D3D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A6A6A"/>
                    </a:solidFill>
                    <a:latin typeface="Helvetic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80er Live</c:v>
                  </c:pt>
                  <c:pt idx="1">
                    <c:v>Oberhausen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412556</c:v>
                </c:pt>
                <c:pt idx="1">
                  <c:v>144210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CGS</c:v>
                </c:pt>
              </c:strCache>
            </c:strRef>
          </c:tx>
          <c:spPr>
            <a:solidFill>
              <a:srgbClr val="A888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A6A6A"/>
                    </a:solidFill>
                    <a:latin typeface="Helvetic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80er Live</c:v>
                  </c:pt>
                  <c:pt idx="1">
                    <c:v>Oberhausen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235000</c:v>
                </c:pt>
                <c:pt idx="1">
                  <c:v>65000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TCLG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A6A6A"/>
                    </a:solidFill>
                    <a:latin typeface="Helvetic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80er Live</c:v>
                  </c:pt>
                  <c:pt idx="1">
                    <c:v>Oberhausen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245000</c:v>
                </c:pt>
                <c:pt idx="1">
                  <c:v>55000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6A6A6A"/>
                  </a:solidFill>
                  <a:latin typeface="Helvetic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1D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A6A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C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E4E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A6A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A6A6A"/>
              </a:solidFill>
              <a:latin typeface="Helvetica"/>
              <a:cs typeface="Helvetic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A6A6A"/>
                </a:solidFill>
                <a:latin typeface="Helvetica"/>
              </a:defRPr>
            </a:pPr>
            <a:r>
              <a:rPr sz="1000" b="0" i="0" u="none" strike="noStrike">
                <a:solidFill>
                  <a:srgbClr val="6A6A6A"/>
                </a:solidFill>
                <a:latin typeface="Helvetica"/>
              </a:rPr>
              <a:t>ZAHLUNGSSTAND (BRUTTO)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Rechnungen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3D3D"/>
              </a:solidFill>
              <a:effectLst/>
            </c:spPr>
          </c:dPt>
          <c:dPt>
            <c:idx val="1"/>
            <c:bubble3D val="0"/>
            <c:spPr>
              <a:solidFill>
                <a:srgbClr val="A8884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Helvetica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Helvetica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Bezahlt</c:v>
                </c:pt>
                <c:pt idx="1">
                  <c:v>Offen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788473</c:v>
                </c:pt>
                <c:pt idx="1">
                  <c:v>383349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A6A6A"/>
              </a:solidFill>
              <a:latin typeface="Helvetica"/>
              <a:cs typeface="Helvetic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A6A6A"/>
                </a:solidFill>
                <a:latin typeface="Helvetica"/>
              </a:defRPr>
            </a:pPr>
            <a:r>
              <a:rPr sz="1000" b="0" i="0" u="none" strike="noStrike">
                <a:solidFill>
                  <a:srgbClr val="6A6A6A"/>
                </a:solidFill>
                <a:latin typeface="Helvetica"/>
              </a:rPr>
              <a:t>UMSATZ JE MONAT (€, NETTO)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Bestätigt / fest</c:v>
                </c:pt>
              </c:strCache>
            </c:strRef>
          </c:tx>
          <c:spPr>
            <a:solidFill>
              <a:srgbClr val="3D3D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Sep 26</c:v>
                  </c:pt>
                  <c:pt idx="1">
                    <c:v>Okt 26</c:v>
                  </c:pt>
                  <c:pt idx="2">
                    <c:v>Nov 26</c:v>
                  </c:pt>
                  <c:pt idx="3">
                    <c:v>Dez 26</c:v>
                  </c:pt>
                  <c:pt idx="4">
                    <c:v>Jan 27</c:v>
                  </c:pt>
                  <c:pt idx="5">
                    <c:v>Feb 27</c:v>
                  </c:pt>
                  <c:pt idx="6">
                    <c:v>Mär 27</c:v>
                  </c:pt>
                  <c:pt idx="7">
                    <c:v>Apr 27</c:v>
                  </c:pt>
                  <c:pt idx="8">
                    <c:v>Mai 27</c:v>
                  </c:pt>
                  <c:pt idx="9">
                    <c:v>Jun 27</c:v>
                  </c:pt>
                  <c:pt idx="10">
                    <c:v>Jul 27</c:v>
                  </c:pt>
                  <c:pt idx="11">
                    <c:v>Aug 27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253606</c:v>
                </c:pt>
                <c:pt idx="1">
                  <c:v>0</c:v>
                </c:pt>
                <c:pt idx="2">
                  <c:v>46520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Offen gewichtet</c:v>
                </c:pt>
              </c:strCache>
            </c:strRef>
          </c:tx>
          <c:spPr>
            <a:solidFill>
              <a:srgbClr val="A888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Sep 26</c:v>
                  </c:pt>
                  <c:pt idx="1">
                    <c:v>Okt 26</c:v>
                  </c:pt>
                  <c:pt idx="2">
                    <c:v>Nov 26</c:v>
                  </c:pt>
                  <c:pt idx="3">
                    <c:v>Dez 26</c:v>
                  </c:pt>
                  <c:pt idx="4">
                    <c:v>Jan 27</c:v>
                  </c:pt>
                  <c:pt idx="5">
                    <c:v>Feb 27</c:v>
                  </c:pt>
                  <c:pt idx="6">
                    <c:v>Mär 27</c:v>
                  </c:pt>
                  <c:pt idx="7">
                    <c:v>Apr 27</c:v>
                  </c:pt>
                  <c:pt idx="8">
                    <c:v>Mai 27</c:v>
                  </c:pt>
                  <c:pt idx="9">
                    <c:v>Jun 27</c:v>
                  </c:pt>
                  <c:pt idx="10">
                    <c:v>Jul 27</c:v>
                  </c:pt>
                  <c:pt idx="11">
                    <c:v>Aug 27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70162</c:v>
                </c:pt>
                <c:pt idx="2">
                  <c:v>131966</c:v>
                </c:pt>
                <c:pt idx="3">
                  <c:v>52317</c:v>
                </c:pt>
                <c:pt idx="4">
                  <c:v>4625</c:v>
                </c:pt>
                <c:pt idx="5">
                  <c:v>2165</c:v>
                </c:pt>
                <c:pt idx="6">
                  <c:v>11910</c:v>
                </c:pt>
                <c:pt idx="7">
                  <c:v>98147</c:v>
                </c:pt>
                <c:pt idx="8">
                  <c:v>0</c:v>
                </c:pt>
                <c:pt idx="9">
                  <c:v>318263</c:v>
                </c:pt>
                <c:pt idx="10">
                  <c:v>193185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Abgerechnet</c:v>
                </c:pt>
              </c:strCache>
            </c:strRef>
          </c:tx>
          <c:spPr>
            <a:solidFill>
              <a:srgbClr val="C8C8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Helvetic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Sep 26</c:v>
                  </c:pt>
                  <c:pt idx="1">
                    <c:v>Okt 26</c:v>
                  </c:pt>
                  <c:pt idx="2">
                    <c:v>Nov 26</c:v>
                  </c:pt>
                  <c:pt idx="3">
                    <c:v>Dez 26</c:v>
                  </c:pt>
                  <c:pt idx="4">
                    <c:v>Jan 27</c:v>
                  </c:pt>
                  <c:pt idx="5">
                    <c:v>Feb 27</c:v>
                  </c:pt>
                  <c:pt idx="6">
                    <c:v>Mär 27</c:v>
                  </c:pt>
                  <c:pt idx="7">
                    <c:v>Apr 27</c:v>
                  </c:pt>
                  <c:pt idx="8">
                    <c:v>Mai 27</c:v>
                  </c:pt>
                  <c:pt idx="9">
                    <c:v>Jun 27</c:v>
                  </c:pt>
                  <c:pt idx="10">
                    <c:v>Jul 27</c:v>
                  </c:pt>
                  <c:pt idx="11">
                    <c:v>Aug 27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226099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Helvetic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4E1D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A6A6A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C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E4E1DB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A6A6A"/>
                </a:solidFill>
                <a:latin typeface="Helvetic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A6A6A"/>
              </a:solidFill>
              <a:latin typeface="Helvetica"/>
              <a:cs typeface="Helvetic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 – Kurze Zusammenfassung und IST-Zustand. Kennzahlen = Zeile „Summe Bestätigt“ der Auswertung in der Nova Works App (alle bestätigten Projekte, netto).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2 – Überblick der letzten 4 Monate: Projekte je Monat (Mai bis September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2 – Vorstellung der Nova Works App: Angebots-Tool (angebote.nova-works.de) und Crewplanung, beide mit Supabase-Cloud, Mehrbenutzer und Zugriff für Claude über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3 – Deal-Auswertung aus der Nova Works App (Auswertung → Deal-Auswertung), Stand 22.09.2026. Nova-Works-Umsatz = bestätigte Projektsumme, Partnerumsätze CGS/TCLG manuell erfasst, Kosten (NW) aus der Kostenkontrolle, Auszahlungen an Partner aus dem Kostensplit.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3 – Rechnungsstand aus der Deal-Auswertung (Stand 22.09.2026). Diskussionspunkte zur Zukunft mit dem Kunden.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4 – Messeauftritt. Inhalte folgen.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5 – Forecast und Ausblick. Zahlen aus Nova Works App → Forecast (Standard „nächste 12 Monate“, dazu Kalenderjahr 2026 und 2027), berechnet aus der Datensicherung vom 22.09.2026.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6 – Sonstiges, Beschlüsse und nächste Schritte.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pic>
        <p:nvPicPr>
          <p:cNvPr id="3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4206240" cy="10570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7889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Gesellschafterversammlung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611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074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Denkendorf, 23. September 2026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18971" y="233172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18971" y="2514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8518971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518971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Denkendorf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Tagesordnung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Sechs Tagesordnungspunkte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Kurze Zusammenfassung und IST-Zustand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98264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72584" y="2103120"/>
            <a:ext cx="640080" cy="64008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7258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95544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672584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Überblick der letzten 4 Monate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247888" y="178308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22208" y="2103120"/>
            <a:ext cx="640080" cy="64008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2220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345168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522208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80er im Detail und Zukunft Kunde MK?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032504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2960" y="4352544"/>
            <a:ext cx="640080" cy="64008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352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645920" y="4379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0840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Messeauftritt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98264" y="4032504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72584" y="4352544"/>
            <a:ext cx="640080" cy="64008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72584" y="4352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495544" y="4379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672584" y="50840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 und Ausblick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247888" y="4032504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522208" y="4352544"/>
            <a:ext cx="640080" cy="64008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22208" y="4352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9345168" y="4379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522208" y="508406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Sonstiges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Kurze Zusammenfassung und IST-Zustand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Gesamt Nova Works · Auswertung der bestätigten Projekte · Stand 22.09.2026 · alle Beträge netto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SUMME BESTÄTIGT · 19 PROJEKTE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ANGEBOT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1.703.217 €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971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Netto aus den Angeboten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41448" y="210312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670048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BESTÄTIGT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2670048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1.813.887 €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2670048" y="2971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aktuelle Projektsumme bestätigter Projekte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34256" y="210312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562856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ERLÖSE (IST)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4562856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1.752.917 €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562856" y="2971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Summe aller Ausgangsrechnungen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27064" y="210312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55664" y="22677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KOSTEN (IST)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2514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1.642.787 €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29718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zugeordnete Eingangsrechnungen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352044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77240" y="3685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MARGE SOLL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-124.484 €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-7 % · Budget − geplante Kosten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441448" y="352044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2670048" y="3685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MARGE IST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2670048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167.900 €</a:t>
            </a:r>
            <a:endParaRPr lang="en-US" sz="2100" dirty="0"/>
          </a:p>
        </p:txBody>
      </p:sp>
      <p:sp>
        <p:nvSpPr>
          <p:cNvPr id="33" name="Text 30"/>
          <p:cNvSpPr txBox="1"/>
          <p:nvPr/>
        </p:nvSpPr>
        <p:spPr>
          <a:xfrm>
            <a:off x="2670048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9 % · Budget − Kosten Ist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334256" y="352044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562856" y="3685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EINGANGSRECHN.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4562856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1.648.816 €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4562856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zugewiesene Eingangsrechnungen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227064" y="352044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455664" y="368503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OFFEN BEIM KUNDEN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6455664" y="393192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60.970 €</a:t>
            </a:r>
            <a:endParaRPr lang="en-US" sz="2200" dirty="0"/>
          </a:p>
        </p:txBody>
      </p:sp>
      <p:sp>
        <p:nvSpPr>
          <p:cNvPr id="41" name="Text 38"/>
          <p:cNvSpPr txBox="1"/>
          <p:nvPr/>
        </p:nvSpPr>
        <p:spPr>
          <a:xfrm>
            <a:off x="6455664" y="4389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Bestätigt − Erlöse (Ist)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0" y="1783080"/>
            <a:ext cx="3410712" cy="4206240"/>
          </a:xfrm>
          <a:prstGeom prst="roundRect">
            <a:avLst>
              <a:gd name="adj" fmla="val 3217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50392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IST-ZUSTAND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8503920" y="228600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und Auslastung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Liquidität und offene Forderungen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Kunden und Partner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Werkzeuge: Nova Works App im Einsatz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Offene Punkte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50392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Stichpunkte werden vor der Versammlung ergänzt.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02575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2  ·  FOLIE 1 von 2</a:t>
            </a:r>
            <a:endParaRPr lang="en-US" sz="850" dirty="0"/>
          </a:p>
        </p:txBody>
      </p:sp>
      <p:pic>
        <p:nvPicPr>
          <p:cNvPr id="3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Überblick der letzten 4 Monate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Projekte Mai bis September 2026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19050">
            <a:solidFill>
              <a:srgbClr val="C7AB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02575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Projekte in fünf Monaten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575786" y="2066544"/>
            <a:ext cx="164592" cy="164592"/>
          </a:xfrm>
          <a:prstGeom prst="ellipse">
            <a:avLst/>
          </a:prstGeom>
          <a:solidFill>
            <a:srgbClr val="A8884F"/>
          </a:solidFill>
          <a:ln w="12700">
            <a:solidFill>
              <a:srgbClr val="A8884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64592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 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2036003" cy="1984248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4672" y="263347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26-0015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" y="285292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SWR3 ESC Party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" y="3218688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26-0011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3438144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Ikarus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3803904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26-0029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" y="4023360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LED Trailer Krones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794669" y="2066544"/>
            <a:ext cx="164592" cy="164592"/>
          </a:xfrm>
          <a:prstGeom prst="ellipse">
            <a:avLst/>
          </a:prstGeom>
          <a:solidFill>
            <a:srgbClr val="A8884F"/>
          </a:solidFill>
          <a:ln w="12700">
            <a:solidFill>
              <a:srgbClr val="A888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67523" y="164592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 2026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858963" y="2468880"/>
            <a:ext cx="2036003" cy="2569464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3023555" y="263347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26-0026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023555" y="285292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i&amp;u Studios · LED Säule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023555" y="3218688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26-0021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023555" y="3438144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EB – No Limits FFM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3023555" y="3803904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26-0008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3023555" y="4023360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Inselfieber Oberhausen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023555" y="4389120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26-0016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023555" y="4608576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CSD München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013552" y="2066544"/>
            <a:ext cx="164592" cy="164592"/>
          </a:xfrm>
          <a:prstGeom prst="ellipse">
            <a:avLst/>
          </a:prstGeom>
          <a:solidFill>
            <a:srgbClr val="A8884F"/>
          </a:solidFill>
          <a:ln w="12700">
            <a:solidFill>
              <a:srgbClr val="A888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986406" y="164592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Juli 2026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77846" y="2468880"/>
            <a:ext cx="2036003" cy="2569464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5242438" y="263347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26-0007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242438" y="285292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80er Live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242438" y="3218688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26-0012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5242438" y="3438144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Summerjam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242438" y="3803904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26-0023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5242438" y="4023360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SWR – Andy Borg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242438" y="4389120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26-0033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5242438" y="4608576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Festspielhaus Bayreuth · Alle Farben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232435" y="2066544"/>
            <a:ext cx="164592" cy="164592"/>
          </a:xfrm>
          <a:prstGeom prst="ellipse">
            <a:avLst/>
          </a:prstGeom>
          <a:solidFill>
            <a:srgbClr val="A8884F"/>
          </a:solidFill>
          <a:ln w="12700">
            <a:solidFill>
              <a:srgbClr val="A8884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205289" y="164592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296729" y="2468880"/>
            <a:ext cx="2036003" cy="813816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461321" y="263347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26-0014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7461321" y="285292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Shutdown Festival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0451318" y="2066544"/>
            <a:ext cx="164592" cy="164592"/>
          </a:xfrm>
          <a:prstGeom prst="ellipse">
            <a:avLst/>
          </a:prstGeom>
          <a:solidFill>
            <a:srgbClr val="A8884F"/>
          </a:solidFill>
          <a:ln w="12700">
            <a:solidFill>
              <a:srgbClr val="A8884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424172" y="1645920"/>
            <a:ext cx="2218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September 2026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515612" y="2468880"/>
            <a:ext cx="2036003" cy="3739896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9680204" y="263347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26-0005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9680204" y="285292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Sven Väth Bayreuth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9680204" y="3218688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26-0032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9680204" y="3438144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Glücksgefühle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9680204" y="3803904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26-0037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9680204" y="4023360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 Bull Energy Station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9680204" y="4389120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26-0031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9680204" y="4608576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SWR NPF 2026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9680204" y="4974336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26-0043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9680204" y="5193792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Laser Mainz–Berlin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9680204" y="555955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26-0047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9680204" y="577900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 Veranstaltungsleiter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02575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2  ·  FOLIE 2 von 2</a:t>
            </a:r>
            <a:endParaRPr lang="en-US" sz="850" dirty="0"/>
          </a:p>
        </p:txBody>
      </p:sp>
      <p:pic>
        <p:nvPicPr>
          <p:cNvPr id="3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Die Nova Works App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Eine Web-App für Angebot, Crew, Disposition, Auswertung und Forecast · angebote.nova-works.de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Angebote &amp; Projekte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Projekte mit Angeboten, Jobs und Material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Angebots-PDF und Zusätze im Nova-Design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Crew-Kalkulation und Transport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Kalkulations-Assistent mit Erfahrungswerten und KI-Einschätzung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Lieferanten-Anfragen als PDF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98264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72584" y="2057400"/>
            <a:ext cx="548640" cy="54864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72584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358384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Crew &amp; Disposition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672584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Crewplanung nach Gewerken und Phasen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Crew Sheet, Schichtplan, Bauzeitenplan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Hotelplanung und Funkgeräte-Ausgabe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Crew per E-Mail anfragen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Freelancer-Datenbank mit Adressen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247888" y="17830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22208" y="2057400"/>
            <a:ext cx="548640" cy="54864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2220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208008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Zahlen &amp; Steuerung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522208" y="283464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Projektauswertung Soll / Ist je Kategorie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Deal-Auswertung mit Partnern und Kostensplit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Rechnungseingang mit Zuordnung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Forecast: Umsatz, Marge, Fixkosten je Monat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15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Overhead, Messen und Lexware-Anbindung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02575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3  ·  FOLIE 1 von 2</a:t>
            </a:r>
            <a:endParaRPr lang="en-US" sz="850" dirty="0"/>
          </a:p>
        </p:txBody>
      </p:sp>
      <p:pic>
        <p:nvPicPr>
          <p:cNvPr id="3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80er im Detail und Zukunft Kunde MK?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Deal-Auswertung ProEvent 2026 · Stand 22.09.2026 · alle Beträge netto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234440"/>
                <a:gridCol w="1097280"/>
                <a:gridCol w="1097280"/>
                <a:gridCol w="1371600"/>
                <a:gridCol w="731520"/>
                <a:gridCol w="1234440"/>
                <a:gridCol w="1280160"/>
                <a:gridCol w="9875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Projekt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Nova Works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CGS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TCLG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Umsatz gesamt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Anteil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Kosten (NW)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Marge Deal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Marge NW-Sicht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26-0007 · 80er Live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412.556 €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235.000 €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245.000 €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892.556 €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77 %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541.385 €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351.171 €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93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-128.829 €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26-0008 · Oberhausen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144.210 €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65.000 €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55.000 €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264.210 €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23 %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157.114 €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107.096 €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93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-12.904 €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Deal gesamt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556.766 €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300.000 €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300.000 €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1.156.766 €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698.499 €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458.267 €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93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-141.733 €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3D3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Umsatz-Anteil je Partei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48 %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26 %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26 %</a:t>
                      </a:r>
                      <a:endParaRPr lang="en-US" sz="9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548640" y="3794760"/>
          <a:ext cx="5760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7"/>
          <p:cNvSpPr/>
          <p:nvPr/>
        </p:nvSpPr>
        <p:spPr>
          <a:xfrm>
            <a:off x="6583680" y="3794760"/>
            <a:ext cx="505663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6812280" y="3931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KOSTENSPLIT · NETTO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6812280" y="4251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Einnahmen alle Parteien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9509760" y="4251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1.156.766 €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812280" y="4562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 Kosten gesamt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509760" y="45628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698.499 €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12280" y="4855464"/>
            <a:ext cx="4617720" cy="0"/>
          </a:xfrm>
          <a:prstGeom prst="line">
            <a:avLst/>
          </a:prstGeom>
          <a:noFill/>
          <a:ln w="9525">
            <a:solidFill>
              <a:srgbClr val="E4E1D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12280" y="4873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Ergebnis vor Split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9509760" y="48737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458.267 €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812280" y="5184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 Auszahlungen Partner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9509760" y="5184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350.000 €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12280" y="5477256"/>
            <a:ext cx="4617720" cy="0"/>
          </a:xfrm>
          <a:prstGeom prst="line">
            <a:avLst/>
          </a:prstGeom>
          <a:noFill/>
          <a:ln w="9525">
            <a:solidFill>
              <a:srgbClr val="E4E1D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812280" y="5495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verbleibt Nova Works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9509760" y="54955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108.267 €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6812280" y="581558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Nova-Works-Sicht: Umsatz 556.766 € − Kosten 698.499 € = -141.733 € (-25 %)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02575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3  ·  FOLIE 2 von 2</a:t>
            </a:r>
            <a:endParaRPr lang="en-US" sz="850" dirty="0"/>
          </a:p>
        </p:txBody>
      </p:sp>
      <p:pic>
        <p:nvPicPr>
          <p:cNvPr id="3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Rechnungsstand und Zukunft Kunde MK?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Rechnungen an den Kunden über alle Parteien · Stand 22.09.2026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1947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RECHNUNG GESTELLT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1.047.766 €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 Rechnungen · netto · 1.246.792 € brutto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3364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BEZAHLT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788.473 €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069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Rechnungen · brutto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61772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77240" y="4782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OFFEN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029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383.349 €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486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Rechnungen · brutto</a:t>
            </a:r>
            <a:endParaRPr lang="en-US" sz="9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749040" y="1783080"/>
          <a:ext cx="32918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7315200" y="1783080"/>
            <a:ext cx="4325112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758952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ZUKUNFT KUNDE MK?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758952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Fragen zur Diskussion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589520" y="2743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Erfahrungen aus 80er Live und Oberhausen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Konditionen und Zahlungsziele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Rollenverteilung mit CGS und TCLG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Umfang 2027: Tour, Einzelshows, Festivals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Entscheidung: weiter, anpassen oder beenden?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Messeauftritt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Planung, Ziele und Budget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Messe und Termin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2697480"/>
            <a:ext cx="487375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7AB78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22960" y="269748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Inhalt folgt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17920" y="178308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0" y="2057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Ziele und Zielgruppen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2697480"/>
            <a:ext cx="487375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7AB78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6492240" y="269748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Inhalt folgt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93192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Budget und Kostenplan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960" y="4846320"/>
            <a:ext cx="487375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7AB78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822960" y="484632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Inhalt folgt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17920" y="3931920"/>
            <a:ext cx="54223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Umsetzung und Verantwortliche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92240" y="4846320"/>
            <a:ext cx="4873752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C7AB78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6492240" y="4846320"/>
            <a:ext cx="4873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Inhalt folgt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 und Ausblick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 · nächste 12 Monate (Sep 2026 – Aug 2027) · 17 Projekte, 4 Planeinträge · alle Beträge netto · Stand 22.09.2026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BESTÄTIGT / FEST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300.126 €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51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Projektsumme bestätigter Projekte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41448" y="178308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670048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OFFEN (GEWICHTET)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2670048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882.740 €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2670048" y="2651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 1.558.705 € Angeboten „auf Anfrage“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34256" y="178308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62856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FORECAST UMSATZ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4562856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1.182.866 €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562856" y="2651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Bestätigt + Offen gewichtet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27064" y="178308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455664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ABGERECHNET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6455664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226.099 €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2651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Ausgangsrechnungen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119872" y="178308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348472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MARGE (FORECAST)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8348472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262.040 €</a:t>
            </a:r>
            <a:endParaRPr lang="en-US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8348472" y="2651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22 % vom Forecast-Umsatz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10012680" y="1783080"/>
            <a:ext cx="17556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0241280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NACH FIXKOSTEN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10241280" y="21945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A7D5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163.926 €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0" y="26517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Fixkosten 98.114 €</a:t>
            </a:r>
            <a:endParaRPr lang="en-US" sz="9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48640" y="3200400"/>
          <a:ext cx="7315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8092440" y="3200400"/>
            <a:ext cx="3547872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8275320" y="3310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ÜBERSICHT NACH ZEITRAUM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361188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73152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Zeitraum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Forecast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Marge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Ergebnis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Kalenderjahr 2026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1.679.037 €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B4493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-43.888 €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4493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-132.155 €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Kalenderjahr 2027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628.295 €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215.736 €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116.122 €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Nächste 12 Mon.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3D3D3D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1.182.866 €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262.040 €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A7D5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163.926 €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2"/>
          <p:cNvSpPr txBox="1"/>
          <p:nvPr/>
        </p:nvSpPr>
        <p:spPr>
          <a:xfrm>
            <a:off x="827532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Kalenderjahr 2026: 1.752.917 € abgerechnet · Kosten geplant 1.722.924 € · Fixkosten 88.267 €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45920" cy="41330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Gesellschafterversammlung  ·  Denkendorf, 23.09.2026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4EEE2"/>
          </a:solidFill>
          <a:ln w="12700">
            <a:solidFill>
              <a:srgbClr val="F4EE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02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88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D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Sonstiges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188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Verschiedenes, Beschlüsse und nächste Schritte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VERSCHIEDENES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22960" y="2331720"/>
            <a:ext cx="49377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C7AB78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82296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Inhalt folgt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33095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4E1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A6A6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BESCHLÜSSE UND NÄCHSTE SCHRITTE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331720"/>
          <a:ext cx="47823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47672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Thema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Beschluss / Aufgabe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Wer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A6A6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Bis</a:t>
                      </a:r>
                      <a:endParaRPr lang="en-US" sz="8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FE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1920240"/>
            <a:ext cx="5989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nova-works-app/scripts/assets/nova-work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94560"/>
            <a:ext cx="5074920" cy="12746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39776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Vielen Dank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AB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NOVA WORKS GmbH  ·  Denkendorf, 23. September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NOVA WORKS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Gesellschafterversammlung NOVA WORKS GmbH – 23.09.2026</dc:title>
  <dc:subject>PptxGenJS Presentation</dc:subject>
  <dc:creator>NOVA WORKS GmbH</dc:creator>
  <cp:lastModifiedBy>NOVA WORKS GmbH</cp:lastModifiedBy>
  <cp:revision>1</cp:revision>
  <dcterms:created xsi:type="dcterms:W3CDTF">2026-09-22T19:04:47Z</dcterms:created>
  <dcterms:modified xsi:type="dcterms:W3CDTF">2026-09-22T19:04:47Z</dcterms:modified>
</cp:coreProperties>
</file>