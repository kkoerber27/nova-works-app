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354ca6cf-3b83-29c9-e917-fc865fdd704b}">
          <p14:sldIdLst>
            <p14:sldId id="256"/>
            <p14:sldId id="257"/>
          </p14:sldIdLst>
        </p14:section>
        <p14:section name="TOP 1 · Kurze Zusammenfassung und IST-Zustand" id="{a15b4471-b6d1-bd1a-9bd6-9d13785e9fd5}">
          <p14:sldIdLst>
            <p14:sldId id="258"/>
          </p14:sldIdLst>
        </p14:section>
        <p14:section name="TOP 2 · Überblick der letzten 4 Monate" id="{64d39a15-3fe6-2b01-9bc8-53ae14a21e7d}">
          <p14:sldIdLst>
            <p14:sldId id="259"/>
            <p14:sldId id="260"/>
          </p14:sldIdLst>
        </p14:section>
        <p14:section name="TOP 3 · 80er im Detail und Zukunft Kunde MK?" id="{c76b8fc9-2309-332d-60bb-9d134b6eb41a}">
          <p14:sldIdLst>
            <p14:sldId id="261"/>
            <p14:sldId id="262"/>
          </p14:sldIdLst>
        </p14:section>
        <p14:section name="TOP 4 · Messeauftritt" id="{a12dac5b-8247-9366-4380-2b575dab7b19}">
          <p14:sldIdLst>
            <p14:sldId id="263"/>
          </p14:sldIdLst>
        </p14:section>
        <p14:section name="TOP 5 · Forecast und Ausblick" id="{b4f09c9e-09e0-1d42-e625-66b46b848e7b}">
          <p14:sldIdLst>
            <p14:sldId id="264"/>
          </p14:sldIdLst>
        </p14:section>
        <p14:section name="TOP 6 · Sonstiges" id="{b3c3aae3-b41a-57bd-d9a2-b8391d71189c}">
          <p14:sldIdLst>
            <p14:sldId id="265"/>
          </p14:sldIdLst>
        </p14:section>
        <p14:section name="Abschluss" id="{b109adc6-6b3a-0521-7709-c28dd2e41d56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UMSATZ JE PARTEI UND PROJEKT (€, NETTO)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Nova Works</c:v>
                </c:pt>
              </c:strCache>
            </c:strRef>
          </c:tx>
          <c:spPr>
            <a:solidFill>
              <a:srgbClr val="3D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412556</c:v>
                </c:pt>
                <c:pt idx="1">
                  <c:v>114210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CGS</c:v>
                </c:pt>
              </c:strCache>
            </c:strRef>
          </c:tx>
          <c:spPr>
            <a:solidFill>
              <a:srgbClr val="A888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235000</c:v>
                </c:pt>
                <c:pt idx="1">
                  <c:v>65000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TCLG</c:v>
                </c:pt>
              </c:strCache>
            </c:strRef>
          </c:tx>
          <c:spPr>
            <a:solidFill>
              <a:srgbClr val="C8C8C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6A6A6A"/>
                    </a:solidFill>
                    <a:latin typeface="Helvetic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80er Live</c:v>
                  </c:pt>
                  <c:pt idx="1">
                    <c:v>Oberhausen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245000</c:v>
                </c:pt>
                <c:pt idx="1">
                  <c:v>55000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6A6A6A"/>
                  </a:solidFill>
                  <a:latin typeface="Helvetic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FECE7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E4E1DB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A6A6A"/>
                </a:solidFill>
                <a:latin typeface="Helvetic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6A6A6A"/>
                </a:solidFill>
                <a:latin typeface="Helvetica"/>
              </a:defRPr>
            </a:pPr>
            <a:r>
              <a:rPr sz="1000" b="0" i="0" u="none" strike="noStrike">
                <a:solidFill>
                  <a:srgbClr val="6A6A6A"/>
                </a:solidFill>
                <a:latin typeface="Helvetica"/>
              </a:rPr>
              <a:t>ZAHLUNGSSTAND (BRUTTO)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Rechnungen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D3D3D"/>
              </a:solidFill>
              <a:effectLst/>
            </c:spPr>
          </c:dPt>
          <c:dPt>
            <c:idx val="1"/>
            <c:bubble3D val="0"/>
            <c:spPr>
              <a:solidFill>
                <a:srgbClr val="A8884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Helvetica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Bezahlt</c:v>
                </c:pt>
                <c:pt idx="1">
                  <c:v>Offen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678993</c:v>
                </c:pt>
                <c:pt idx="1">
                  <c:v>361760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A6A6A"/>
              </a:solidFill>
              <a:latin typeface="Helvetica"/>
              <a:cs typeface="Helvetica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1 – Kurze Zusammenfassung und IST-Zustand. Kennzahlen = Zeile „Summe Bestätigt“ der Auswertung in der Nova Works App (alle bestätigten Projekte, netto).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Überblick der letzten 4 Monate: Projekte je Monat (Mai bis September 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2 – Vorstellung der Nova Works App: Angebots-Tool (angebote.nova-works.de) und Crewplanung, beide mit Supabase-Cloud, Mehrbenutzer und Zugriff für Claude über MCP.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Deal-Auswertung aus der Nova Works App (Auswertung → Deal-Auswertung), Stand 07.08.2026. Nova-Works-Umsatz = bestätigte Projektsumme, Partnerumsätze CGS/TCLG manuell erfasst, Kosten (NW) aus der Kostenkontrolle.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3 – Rechnungsstand aus der Deal-Auswertung (Stand 07.08.2026). Diskussionspunkte zur Zukunft mit dem Kunden.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4 – Messeauftritt. Inhalte folgen.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5 – Forecast und Ausblick. Zahlen aus Nova Works App → Forecast; dort PowerPoint-Export nutzen oder Werte in FORECAST im Build-Skript eintragen.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 6 – Sonstiges, Beschlüsse und nächste Schritte.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97280"/>
            <a:ext cx="4206240" cy="10570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914400" y="2788920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Gesellschafterversammlung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6118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Denkendorf, 23. September 2026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8518971" y="2331720"/>
            <a:ext cx="27432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8518971" y="25146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23</a:t>
            </a:r>
            <a:endParaRPr lang="en-US" sz="6600" dirty="0"/>
          </a:p>
        </p:txBody>
      </p:sp>
      <p:sp>
        <p:nvSpPr>
          <p:cNvPr id="9" name="Text 6"/>
          <p:cNvSpPr txBox="1"/>
          <p:nvPr/>
        </p:nvSpPr>
        <p:spPr>
          <a:xfrm>
            <a:off x="8518971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518971" y="3977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Denkendorf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Tagesordnung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Sechs Tagesordnungspunkte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1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398264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672584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72584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95544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672584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247888" y="178308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522208" y="2103120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522208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9345168" y="213055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8522208" y="28346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1645920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22960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398264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672584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672584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5495544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4672584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8247888" y="4032504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522208" y="4352544"/>
            <a:ext cx="640080" cy="64008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522208" y="435254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9345168" y="4379976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8522208" y="50840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Kurze Zusammenfassung und IST-Zustand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Gesamt Nova Works · Auswertung der bestätigten Projekte · alle Beträge netto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783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 BESTÄTIGT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48640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Netto aus den Angeboten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441448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670048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2670048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aktuelle Projektsumme bestätigter Projekte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334256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62856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ERLÖSE (IST)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4562856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 aller Ausgangsrechnungen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227064" y="210312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455664" y="226771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KOSTEN (IST)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51460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6455664" y="29718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zugeordnete Eingangsrechnungen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48640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77240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SOLL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777240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− geplante Kosten (Kalkulations-Soll)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441448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2670048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IST</a:t>
            </a:r>
            <a:endParaRPr lang="en-US" sz="800" dirty="0"/>
          </a:p>
        </p:txBody>
      </p:sp>
      <p:sp>
        <p:nvSpPr>
          <p:cNvPr id="32" name="Text 29"/>
          <p:cNvSpPr txBox="1"/>
          <p:nvPr/>
        </p:nvSpPr>
        <p:spPr>
          <a:xfrm>
            <a:off x="2670048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2670048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− Kosten Ist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4334256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4562856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EINGANGSRECHN.</a:t>
            </a:r>
            <a:endParaRPr lang="en-US" sz="800" dirty="0"/>
          </a:p>
        </p:txBody>
      </p:sp>
      <p:sp>
        <p:nvSpPr>
          <p:cNvPr id="36" name="Text 33"/>
          <p:cNvSpPr txBox="1"/>
          <p:nvPr/>
        </p:nvSpPr>
        <p:spPr>
          <a:xfrm>
            <a:off x="4562856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7" name="Text 34"/>
          <p:cNvSpPr txBox="1"/>
          <p:nvPr/>
        </p:nvSpPr>
        <p:spPr>
          <a:xfrm>
            <a:off x="4562856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zugewiesene Eingangsrechnungen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227064" y="352044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455664" y="368503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BEIM KUNDEN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6455664" y="393192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41" name="Text 38"/>
          <p:cNvSpPr txBox="1"/>
          <p:nvPr/>
        </p:nvSpPr>
        <p:spPr>
          <a:xfrm>
            <a:off x="6455664" y="43891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− Erlöse (Ist)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48920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folgen aus der Nova Works App (Auswertung → Zeile „Summe Bestätigt“).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229600" y="1783080"/>
            <a:ext cx="3410712" cy="4206240"/>
          </a:xfrm>
          <a:prstGeom prst="roundRect">
            <a:avLst>
              <a:gd name="adj" fmla="val 321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5039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IST-ZUSTAND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8503920" y="228600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Team und Auslastung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Liquidität und offene Forderungen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Kunden und Partner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Werkzeuge: Nova Works App im Einsatz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Offene Punkte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85039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Stichpunkte werden vor der Versammlung ergänzt.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  ·  FOLIE 1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Überblick der letzten 4 Monate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Mai bis September 2026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148840"/>
            <a:ext cx="11094415" cy="0"/>
          </a:xfrm>
          <a:prstGeom prst="line">
            <a:avLst/>
          </a:prstGeom>
          <a:noFill/>
          <a:ln w="19050">
            <a:solidFill>
              <a:srgbClr val="C7AB7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02575" y="118872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18 Projekte in fünf Monaten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575786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Mai 2026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2468880"/>
            <a:ext cx="2036003" cy="1984248"/>
          </a:xfrm>
          <a:prstGeom prst="roundRect">
            <a:avLst>
              <a:gd name="adj" fmla="val 5530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04672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26-0015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SWR3 ESC Party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04672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26-0011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Ikarus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04672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26-0029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804672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LED Trailer Krones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794669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767523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Juni 2026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858963" y="2468880"/>
            <a:ext cx="2036003" cy="2569464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3023555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26-0026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3023555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i&amp;u Studios · LED Säule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3023555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26-0021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3023555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EB – No Limits FFM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3023555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26-0008</a:t>
            </a:r>
            <a:endParaRPr lang="en-US" sz="900" dirty="0"/>
          </a:p>
        </p:txBody>
      </p:sp>
      <p:sp>
        <p:nvSpPr>
          <p:cNvPr id="29" name="Text 26"/>
          <p:cNvSpPr txBox="1"/>
          <p:nvPr/>
        </p:nvSpPr>
        <p:spPr>
          <a:xfrm>
            <a:off x="3023555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Inselfieber Oberhausen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23555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26-0016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3023555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CSD München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013552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986406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Juli 2026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77846" y="2468880"/>
            <a:ext cx="2036003" cy="2569464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5242438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26-0007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5242438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242438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26-0012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5242438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Summerjam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5242438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26-0023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242438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 – Andy Borg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5242438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26-0033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5242438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Festspielhaus Bayreuth · Alle Farben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232435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05289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August 2026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7296729" y="2468880"/>
            <a:ext cx="2036003" cy="813816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461321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26-0014</a:t>
            </a:r>
            <a:endParaRPr lang="en-US" sz="900" dirty="0"/>
          </a:p>
        </p:txBody>
      </p:sp>
      <p:sp>
        <p:nvSpPr>
          <p:cNvPr id="47" name="Text 44"/>
          <p:cNvSpPr txBox="1"/>
          <p:nvPr/>
        </p:nvSpPr>
        <p:spPr>
          <a:xfrm>
            <a:off x="7461321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Shutdown Festival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10451318" y="2066544"/>
            <a:ext cx="164592" cy="164592"/>
          </a:xfrm>
          <a:prstGeom prst="ellipse">
            <a:avLst/>
          </a:prstGeom>
          <a:solidFill>
            <a:srgbClr val="A8884F"/>
          </a:solidFill>
          <a:ln w="12700">
            <a:solidFill>
              <a:srgbClr val="A8884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424172" y="1645920"/>
            <a:ext cx="221888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50" name="Shape 47"/>
          <p:cNvSpPr/>
          <p:nvPr/>
        </p:nvSpPr>
        <p:spPr>
          <a:xfrm>
            <a:off x="9515612" y="2468880"/>
            <a:ext cx="2036003" cy="3739896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51" name="Text 48"/>
          <p:cNvSpPr txBox="1"/>
          <p:nvPr/>
        </p:nvSpPr>
        <p:spPr>
          <a:xfrm>
            <a:off x="9680204" y="263347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26-0005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9680204" y="285292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Sven Väth Bayreuth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680204" y="3218688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26-0032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9680204" y="3438144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Glücksgefühle</a:t>
            </a:r>
            <a:endParaRPr lang="en-US" sz="1100" dirty="0"/>
          </a:p>
        </p:txBody>
      </p:sp>
      <p:sp>
        <p:nvSpPr>
          <p:cNvPr id="55" name="Text 52"/>
          <p:cNvSpPr txBox="1"/>
          <p:nvPr/>
        </p:nvSpPr>
        <p:spPr>
          <a:xfrm>
            <a:off x="9680204" y="3803904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26-0037</a:t>
            </a:r>
            <a:endParaRPr lang="en-US" sz="900" dirty="0"/>
          </a:p>
        </p:txBody>
      </p:sp>
      <p:sp>
        <p:nvSpPr>
          <p:cNvPr id="56" name="Text 53"/>
          <p:cNvSpPr txBox="1"/>
          <p:nvPr/>
        </p:nvSpPr>
        <p:spPr>
          <a:xfrm>
            <a:off x="9680204" y="4023360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Red Bull @ GG · Energy Station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9680204" y="4389120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26-0031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9680204" y="4608576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SWR NPF 2026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9680204" y="4974336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26-0043</a:t>
            </a:r>
            <a:endParaRPr lang="en-US" sz="900" dirty="0"/>
          </a:p>
        </p:txBody>
      </p:sp>
      <p:sp>
        <p:nvSpPr>
          <p:cNvPr id="60" name="Text 57"/>
          <p:cNvSpPr txBox="1"/>
          <p:nvPr/>
        </p:nvSpPr>
        <p:spPr>
          <a:xfrm>
            <a:off x="9680204" y="5193792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Laser Mainz–Berlin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9680204" y="5559552"/>
            <a:ext cx="17068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26-0047</a:t>
            </a:r>
            <a:endParaRPr lang="en-US" sz="900" dirty="0"/>
          </a:p>
        </p:txBody>
      </p:sp>
      <p:sp>
        <p:nvSpPr>
          <p:cNvPr id="62" name="Text 59"/>
          <p:cNvSpPr txBox="1"/>
          <p:nvPr/>
        </p:nvSpPr>
        <p:spPr>
          <a:xfrm>
            <a:off x="9680204" y="5779008"/>
            <a:ext cx="170681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 Veranstaltungsleiter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2  ·  FOLIE 2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Die Nova Works App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Eine Web-App für Angebot, Crew, Disposition, Auswertung und Forecast · angebote.nova-works.de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22960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&amp; Projekte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Projekte mit Angeboten, Jobs und Material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Angebots-PDF und Zusätze im Nova-Design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Crew-Kalkulation und Transport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Kalkulations-Assistent mit Erfahrungswerten und KI-Einschätzung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Lieferanten-Anfragen als PDF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398264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72584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672584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358384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&amp; Disposition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672584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Crewplanung nach Gewerken und Phasen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Sheet, Schichtplan, Bauzeitenplan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Hotelplanung und Funkgeräte-Ausgabe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Crew per E-Mail anfragen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Freelancer-Datenbank mit Adressen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247888" y="178308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522208" y="2057400"/>
            <a:ext cx="548640" cy="54864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22208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208008" y="20574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&amp; Steuerung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522208" y="2834640"/>
            <a:ext cx="3017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Projektauswertung Soll / Ist je Kategorie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mit Partnern und Kostensplit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Rechnungseingang mit Zuordnung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Forecast: Umsatz, Marge, Fixkosten je Monat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Overhead, Messen und Lexware-Anbindung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  ·  FOLIE 1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im Detail und Zukunft Kunde MK?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Deal-Auswertung ProEvent 2026 · Stand 07.08.2026 · alle Beträge netto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234440"/>
                <a:gridCol w="1097280"/>
                <a:gridCol w="1097280"/>
                <a:gridCol w="1371600"/>
                <a:gridCol w="731520"/>
                <a:gridCol w="1234440"/>
                <a:gridCol w="1280160"/>
                <a:gridCol w="9875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Projekt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Nova Works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CGS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TCLG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 gesamt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Anteil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Kosten (NW)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Deal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Marge NW-Sicht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26-0007 · 80er Live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412.556 €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245.000 €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892.556 €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79 %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151.483 €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741.073 €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261.073 €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26-0008 · Oberhausen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114.210 €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65.000 €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55.000 €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234.210 €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21 %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157.114 €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77.096 €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4493F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-42.904 €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Deal gesamt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526.766 €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300.000 €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1.126.766 €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3D3D3D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308.597 €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818.169 €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5A7D52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218.169 €</a:t>
                      </a: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3D3D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Umsatz-Anteil je Partei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47 %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27 %</a:t>
                      </a:r>
                      <a:endParaRPr lang="en-US" sz="9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548640" y="3794760"/>
          <a:ext cx="576072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7"/>
          <p:cNvSpPr/>
          <p:nvPr/>
        </p:nvSpPr>
        <p:spPr>
          <a:xfrm>
            <a:off x="6583680" y="379476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3" name="Text 8"/>
          <p:cNvSpPr txBox="1"/>
          <p:nvPr/>
        </p:nvSpPr>
        <p:spPr>
          <a:xfrm>
            <a:off x="6812280" y="395935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NOVA WORKS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6812280" y="4206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526.766 €</a:t>
            </a:r>
            <a:endParaRPr lang="en-US" sz="2200" dirty="0"/>
          </a:p>
        </p:txBody>
      </p:sp>
      <p:sp>
        <p:nvSpPr>
          <p:cNvPr id="15" name="Text 10"/>
          <p:cNvSpPr txBox="1"/>
          <p:nvPr/>
        </p:nvSpPr>
        <p:spPr>
          <a:xfrm>
            <a:off x="6812280" y="46634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47 % des Deals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9217152" y="3794760"/>
            <a:ext cx="24231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9445752" y="395935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NW-SICHT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9445752" y="420624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218.169 €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9445752" y="466344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41 % vom NW-Umsatz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6583680" y="5166360"/>
            <a:ext cx="5056632" cy="914400"/>
          </a:xfrm>
          <a:prstGeom prst="roundRect">
            <a:avLst>
              <a:gd name="adj" fmla="val 12000"/>
            </a:avLst>
          </a:prstGeom>
          <a:solidFill>
            <a:srgbClr val="F4EEE2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1" name="Text 16"/>
          <p:cNvSpPr txBox="1"/>
          <p:nvPr/>
        </p:nvSpPr>
        <p:spPr>
          <a:xfrm>
            <a:off x="6766560" y="5230368"/>
            <a:ext cx="4709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80er Live trägt die Marge: 261.073 € aus Nova-Works-Sicht. Oberhausen liegt aus Nova-Works-Sicht bei -42.904 € (Kosten über dem eigenen Umsatzanteil).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802575" y="914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TOP 3  ·  FOLIE 2 von 2</a:t>
            </a:r>
            <a:endParaRPr lang="en-US" sz="850" dirty="0"/>
          </a:p>
        </p:txBody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Rechnungsstand und Zukunft Kunde MK?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Rechnungen an den Kunden über alle Parteien · Stand 07.08.2026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178308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77240" y="19476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 RECHNUNG GESTELLT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874.624 €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6517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netto · 1.040.753 € brutto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48640" y="320040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77240" y="33649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BEZAHLT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6118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678.993 €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40690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15 Rechnungen · brutto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48640" y="4617720"/>
            <a:ext cx="301752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77240" y="478231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5029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361.760 €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" y="54864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7 Rechnungen · brutto · nur 80er Live</a:t>
            </a:r>
            <a:endParaRPr lang="en-US" sz="9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3749040" y="1783080"/>
          <a:ext cx="329184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Shape 19"/>
          <p:cNvSpPr/>
          <p:nvPr/>
        </p:nvSpPr>
        <p:spPr>
          <a:xfrm>
            <a:off x="7315200" y="1783080"/>
            <a:ext cx="4325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589520" y="1965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ZUKUNFT KUNDE MK?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7589520" y="2240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Fragen zur Diskussion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7589520" y="2743200"/>
            <a:ext cx="38404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Erfahrungen aus 80er Live und Oberhausen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Konditionen und Zahlungsziele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Rollenverteilung mit CGS und TCLG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Umfang 2027: Tour, Einzelshows, Festivals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200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Entscheidung: weiter, anpassen oder beenden?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Messeauftritt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Planung, Ziele und Budget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Messe und Termin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2296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2296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217920" y="178308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92240" y="205740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132320" y="2057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Ziele und Zielgruppen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69748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6492240" y="269748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Budget und Kostenplan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2296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2296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217920" y="3931920"/>
            <a:ext cx="542239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492240" y="4206240"/>
            <a:ext cx="502920" cy="50292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92240" y="42062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132320" y="42062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Umsetzung und Verantwortliche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492240" y="4846320"/>
            <a:ext cx="4873752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6492240" y="4846320"/>
            <a:ext cx="48737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und Ausblick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Kennzahlen aus dem Forecast der Nova Works App · alle Beträge netto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/ FEST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Projektsumme bestätigter Projekte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2441448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670048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OFFEN (GEWICHTET)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2670048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2670048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Angebote „auf Anfrage“ × Wahrscheinlichkeit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334256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62856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FORECAST UMSATZ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4562856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562856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Bestätigt + Offen gewichtet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227064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455664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ABGERECHNET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6455664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6455664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Ausgangsrechnungen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119872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8348472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(FORECAST)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8348472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A7D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8348472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− geplante Kosten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10012680" y="1783080"/>
            <a:ext cx="1755648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10241280" y="1947672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6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NACH FIXKOSTEN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241280" y="2194560"/>
            <a:ext cx="129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–</a:t>
            </a:r>
            <a:endParaRPr lang="en-US" sz="22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0" y="265176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Marge − Fixkosten aus dem Overhead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48640" y="3200400"/>
            <a:ext cx="11094415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548640" y="3200400"/>
            <a:ext cx="1109441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Umsatz je Monat (Bestätigt · Offen gewichtet · Abgerechnet)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Zahlen folgen aus dem Forecast der Nova Works App (Forecast → PowerPoint-Export)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97135" y="384048"/>
            <a:ext cx="1645920" cy="41330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Gesellschafterversammlung  ·  Denkendorf, 23.09.2026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548640" y="502920"/>
            <a:ext cx="685800" cy="685800"/>
          </a:xfrm>
          <a:prstGeom prst="ellipse">
            <a:avLst/>
          </a:prstGeom>
          <a:solidFill>
            <a:srgbClr val="F4EEE2"/>
          </a:solidFill>
          <a:ln w="12700">
            <a:solidFill>
              <a:srgbClr val="F4EEE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502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884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3D3D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Sonstiges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18872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Verschiedenes, Beschlüsse und nächste Schritte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1783080"/>
            <a:ext cx="548640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19659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VERSCHIEDENES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331720"/>
            <a:ext cx="493776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C7AB78"/>
            </a:solidFill>
            <a:prstDash val="dash"/>
          </a:ln>
        </p:spPr>
      </p:sp>
      <p:sp>
        <p:nvSpPr>
          <p:cNvPr id="12" name="Text 9"/>
          <p:cNvSpPr txBox="1"/>
          <p:nvPr/>
        </p:nvSpPr>
        <p:spPr>
          <a:xfrm>
            <a:off x="822960" y="2331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Inhalt folgt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309360" y="1783080"/>
            <a:ext cx="5330952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4E1D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58368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6A6A6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BESCHLÜSSE UND NÄCHSTE SCHRITTE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2331720"/>
          <a:ext cx="47823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947672"/>
                <a:gridCol w="73152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Thema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Beschluss / Aufgabe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Wer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00" kern="0" dirty="0">
                          <a:solidFill>
                            <a:srgbClr val="6A6A6A"/>
                          </a:solidFill>
                          <a:latin typeface="Helvetica" pitchFamily="34" charset="0"/>
                          <a:ea typeface="Helvetica" pitchFamily="34" charset="-122"/>
                          <a:cs typeface="Helvetica" pitchFamily="34" charset="-120"/>
                        </a:rPr>
                        <a:t>Bis</a:t>
                      </a:r>
                      <a:endParaRPr lang="en-US" sz="85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1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EE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Helvetica" charset="0"/>
                        <a:ea typeface="Helvetica" charset="0"/>
                        <a:cs typeface="Helvetica" charset="0"/>
                      </a:endParaRPr>
                    </a:p>
                  </a:txBody>
                  <a:tcPr marL="63500" marR="63500" marT="38100" marB="3810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FE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D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08960" y="1920240"/>
            <a:ext cx="598932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nova-works-app/scripts/assets/nova-work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2194560"/>
            <a:ext cx="5074920" cy="12746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3977640"/>
            <a:ext cx="121916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Vielen Dank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0" y="46634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7AB7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NOVA WORKS GmbH  ·  Denkendorf, 23. September 2026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NOVA WORKS GmbH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Gesellschafterversammlung NOVA WORKS GmbH – 23.09.2026</dc:title>
  <dc:subject>PptxGenJS Presentation</dc:subject>
  <dc:creator>NOVA WORKS GmbH</dc:creator>
  <cp:lastModifiedBy>NOVA WORKS GmbH</cp:lastModifiedBy>
  <cp:revision>1</cp:revision>
  <dcterms:created xsi:type="dcterms:W3CDTF">2026-09-18T07:37:31Z</dcterms:created>
  <dcterms:modified xsi:type="dcterms:W3CDTF">2026-09-18T07:37:31Z</dcterms:modified>
</cp:coreProperties>
</file>